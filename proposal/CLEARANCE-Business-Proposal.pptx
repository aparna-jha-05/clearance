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Governed decisions / mo (index)</c:v>
                </c:pt>
              </c:strCache>
            </c:strRef>
          </c:tx>
          <c:spPr>
            <a:solidFill>
              <a:srgbClr val="2E6B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A7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'25</c:v>
                  </c:pt>
                  <c:pt idx="1">
                    <c:v>'26</c:v>
                  </c:pt>
                  <c:pt idx="2">
                    <c:v>'27</c:v>
                  </c:pt>
                  <c:pt idx="3">
                    <c:v>'28</c:v>
                  </c:pt>
                  <c:pt idx="4">
                    <c:v>'29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12</c:v>
                </c:pt>
                <c:pt idx="2">
                  <c:v>34</c:v>
                </c:pt>
                <c:pt idx="3">
                  <c:v>68</c:v>
                </c:pt>
                <c:pt idx="4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B6A7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CLEARANCE is the decision layer above AI detection. One line: we decide on the reversibility of the action, not just the content of the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market is crowded with good detectors. The gap is the decision layer — deciding what to do about detected risk, indexed to the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entire pitch in one slide. Same text, two contexts, two verdicts, indexed to reversibility.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Corpus is synthetic and single-annotator — we declare this in the repo. The numbers are for comparing operating points, not claiming production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figures are our own estimates with explicit assumptions, not cited third-party numbers. The compounding driver is governed-decision volume: value scales with 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2E6BF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023360"/>
            <a:ext cx="5486400" cy="5486400"/>
          </a:xfrm>
          <a:prstGeom prst="ellipse">
            <a:avLst/>
          </a:prstGeom>
          <a:solidFill>
            <a:srgbClr val="8B5CF6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669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E6B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669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8B5CF6">
              <a:alpha val="5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6" y="680314"/>
            <a:ext cx="340157" cy="340157"/>
          </a:xfrm>
          <a:prstGeom prst="ellipse">
            <a:avLst/>
          </a:prstGeom>
          <a:ln w="47244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0135" y="805038"/>
            <a:ext cx="113386" cy="907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60350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488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the action,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answer.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05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layer above AI detection — deciding on the reversibility of the action, not the content of the text.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7424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Proposal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08990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Aparna Jha</a:t>
            </a:r>
            <a:pPr indent="0" marL="0">
              <a:buNone/>
            </a:pPr>
            <a:r>
              <a:rPr lang="en-US" sz="12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Accenture Innovation Challenge 2026  ·  Round 2  ·  Track 1 (ControlPlane.ai)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detect. They don't decide.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guardrails answer “is this text risky?” — scoped by endpoint at best. But the same risky sentence is harmless in a brainstorm and dangerous when it moves money. Detection alone cannot tell the difference.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7406640" cy="1051560"/>
          </a:xfrm>
          <a:prstGeom prst="roundRect">
            <a:avLst>
              <a:gd name="adj" fmla="val 9565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999232"/>
            <a:ext cx="548640" cy="548640"/>
          </a:xfrm>
          <a:prstGeom prst="ellipse">
            <a:avLst/>
          </a:prstGeom>
          <a:solidFill>
            <a:srgbClr val="2E6B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90779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verdict, every context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5526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hallucinated refund window is treated identically whether it is shown to a user or used to issue a refund.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50208"/>
            <a:ext cx="7406640" cy="1051560"/>
          </a:xfrm>
          <a:prstGeom prst="roundRect">
            <a:avLst>
              <a:gd name="adj" fmla="val 9565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4206240"/>
            <a:ext cx="548640" cy="548640"/>
          </a:xfrm>
          <a:prstGeom prst="ellipse">
            <a:avLst/>
          </a:prstGeom>
          <a:solidFill>
            <a:srgbClr val="2E6B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41148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traded for cost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46227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sample traffic to control spend — so the risky request that slips through is often the one never checked.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157216"/>
            <a:ext cx="7406640" cy="1051560"/>
          </a:xfrm>
          <a:prstGeom prst="roundRect">
            <a:avLst>
              <a:gd name="adj" fmla="val 9565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5413248"/>
            <a:ext cx="548640" cy="548640"/>
          </a:xfrm>
          <a:prstGeom prst="ellipse">
            <a:avLst/>
          </a:prstGeom>
          <a:solidFill>
            <a:srgbClr val="2E6BF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5413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32180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point is invisible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6692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thresholds that govern everything are an undocumented engineering default, not an owned, auditable decision.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75320" y="1600200"/>
            <a:ext cx="3337560" cy="4709160"/>
          </a:xfrm>
          <a:prstGeom prst="roundRect">
            <a:avLst>
              <a:gd name="adj" fmla="val 3014"/>
            </a:avLst>
          </a:prstGeom>
          <a:solidFill>
            <a:srgbClr val="0A0E1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4964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 IN 2026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549640" y="21945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now act,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answer.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549640" y="320040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Refunds. Emails. Record writes. Trades. When an LLM can take an irreversible action, “the text looked fine” is not a safety story.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549640" y="48920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isn't better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decision.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3291840"/>
            <a:ext cx="6400800" cy="64008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E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risk ≠ action risk.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727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response. Identical detection. Two verdicts — because the reversibility of the action differs.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64240" cy="868680"/>
          </a:xfrm>
          <a:prstGeom prst="roundRect">
            <a:avLst>
              <a:gd name="adj" fmla="val 11579"/>
            </a:avLst>
          </a:prstGeom>
          <a:solidFill>
            <a:srgbClr val="18222F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RESPONSE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15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entitled to a full refund of €200 for the delay, and it will be credited to your card.”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5394960" cy="2514600"/>
          </a:xfrm>
          <a:prstGeom prst="roundRect">
            <a:avLst>
              <a:gd name="adj" fmla="val 4000"/>
            </a:avLst>
          </a:prstGeom>
          <a:solidFill>
            <a:srgbClr val="18222F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356616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2E6B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51960" y="35661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160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ticket.note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526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937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into a draft note. Flagged with a caveat and allowed through.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429000"/>
            <a:ext cx="5394960" cy="2514600"/>
          </a:xfrm>
          <a:prstGeom prst="roundRect">
            <a:avLst>
              <a:gd name="adj" fmla="val 4000"/>
            </a:avLst>
          </a:prstGeom>
          <a:solidFill>
            <a:srgbClr val="18222F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921240" y="356616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C792E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21240" y="35661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160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refund.issue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526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937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to move money. Blocked and routed to a human for review.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else ships the paired verdict. It is the first thing our demo shows.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layer that sits above detection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is a drop-in, OpenAI-compatible gateway. Point your app's base URL at it and every response is governed — text streams instantly, only side effects wait at the gate.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502152" cy="3291840"/>
          </a:xfrm>
          <a:prstGeom prst="roundRect">
            <a:avLst>
              <a:gd name="adj" fmla="val 3056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92608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E6B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6576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Reversibility-indexed verdicts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44348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decide on (risk, reversibility of the action), not content alone. Identical text, two verdicts — annotate a draft, block a refund.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33672" y="2651760"/>
            <a:ext cx="3502152" cy="3291840"/>
          </a:xfrm>
          <a:prstGeom prst="roundRect">
            <a:avLst>
              <a:gd name="adj" fmla="val 3056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92608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6576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Cost-proportional coverage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44348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coverage at a no-LLM tier; spend escalates only when uncertain. The expensive tier trains the cheap one, so paid traffic falls week over week.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18704" y="2651760"/>
            <a:ext cx="3502152" cy="3291840"/>
          </a:xfrm>
          <a:prstGeom prst="roundRect">
            <a:avLst>
              <a:gd name="adj" fmla="val 3056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11312" y="292608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2B98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11312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11312" y="36576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operating point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211312" y="44348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thresholds are a governance artifact — chosen by a named owner, dated, and hash-stamped into every immutable ledger row.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detector sits behind one adapter interface — so Lakera, Patronus or Bedrock Guardrails can be the backend. We don't out-detect them; we decide above them.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request, one decision path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600200" cy="960120"/>
          </a:xfrm>
          <a:prstGeom prst="roundRect">
            <a:avLst>
              <a:gd name="adj" fmla="val 10476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11226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514600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OpenAI client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12848" y="2446020"/>
            <a:ext cx="274320" cy="0"/>
          </a:xfrm>
          <a:prstGeom prst="line">
            <a:avLst/>
          </a:prstGeom>
          <a:noFill/>
          <a:ln w="22225">
            <a:solidFill>
              <a:srgbClr val="9AA9B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14600" y="1965960"/>
            <a:ext cx="1965960" cy="960120"/>
          </a:xfrm>
          <a:prstGeom prst="roundRect">
            <a:avLst>
              <a:gd name="adj" fmla="val 10476"/>
            </a:avLst>
          </a:prstGeom>
          <a:solidFill>
            <a:srgbClr val="0A0E1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211226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624328" y="251460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 · stream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2446020"/>
            <a:ext cx="274320" cy="0"/>
          </a:xfrm>
          <a:prstGeom prst="line">
            <a:avLst/>
          </a:prstGeom>
          <a:noFill/>
          <a:ln w="22225">
            <a:solidFill>
              <a:srgbClr val="9AA9B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73752" y="1965960"/>
            <a:ext cx="2743200" cy="960120"/>
          </a:xfrm>
          <a:prstGeom prst="roundRect">
            <a:avLst>
              <a:gd name="adj" fmla="val 10476"/>
            </a:avLst>
          </a:prstGeom>
          <a:solidFill>
            <a:srgbClr val="2E6BF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10912" y="21122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tripwire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251460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· no LLM · ~1.5ms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80960" y="2446020"/>
            <a:ext cx="274320" cy="0"/>
          </a:xfrm>
          <a:prstGeom prst="line">
            <a:avLst/>
          </a:prstGeom>
          <a:noFill/>
          <a:ln w="22225">
            <a:solidFill>
              <a:srgbClr val="9AA9B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82712" y="1965960"/>
            <a:ext cx="1691640" cy="960120"/>
          </a:xfrm>
          <a:prstGeom prst="roundRect">
            <a:avLst>
              <a:gd name="adj" fmla="val 10476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19872" y="211226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judge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51460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~8% · classifier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747504" y="2446020"/>
            <a:ext cx="274320" cy="0"/>
          </a:xfrm>
          <a:prstGeom prst="line">
            <a:avLst/>
          </a:prstGeom>
          <a:noFill/>
          <a:ln w="22225">
            <a:solidFill>
              <a:srgbClr val="9AA9B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40112" y="1965960"/>
            <a:ext cx="1572768" cy="960120"/>
          </a:xfrm>
          <a:prstGeom prst="roundRect">
            <a:avLst>
              <a:gd name="adj" fmla="val 10476"/>
            </a:avLst>
          </a:prstGeom>
          <a:solidFill>
            <a:srgbClr val="18222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177272" y="2112264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+ human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0149840" y="251460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 · async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45352" y="2926080"/>
            <a:ext cx="0" cy="822960"/>
          </a:xfrm>
          <a:prstGeom prst="line">
            <a:avLst/>
          </a:prstGeom>
          <a:noFill/>
          <a:ln w="22225">
            <a:solidFill>
              <a:srgbClr val="9AA9B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8640" y="3749040"/>
            <a:ext cx="3566160" cy="1051560"/>
          </a:xfrm>
          <a:prstGeom prst="roundRect">
            <a:avLst>
              <a:gd name="adj" fmla="val 9565"/>
            </a:avLst>
          </a:prstGeom>
          <a:solidFill>
            <a:srgbClr val="2E6BF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38953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+ action gate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429768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= gate[risk band][reversibility]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42232" y="4274820"/>
            <a:ext cx="274320" cy="0"/>
          </a:xfrm>
          <a:prstGeom prst="line">
            <a:avLst/>
          </a:prstGeom>
          <a:noFill/>
          <a:ln w="22225">
            <a:solidFill>
              <a:srgbClr val="9AA9B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443984" y="3749040"/>
            <a:ext cx="3383280" cy="1051560"/>
          </a:xfrm>
          <a:prstGeom prst="roundRect">
            <a:avLst>
              <a:gd name="adj" fmla="val 9565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581144" y="38953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4553712" y="429768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streams free · actions held to deadline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863840" y="4274820"/>
            <a:ext cx="274320" cy="0"/>
          </a:xfrm>
          <a:prstGeom prst="line">
            <a:avLst/>
          </a:prstGeom>
          <a:noFill/>
          <a:ln w="22225">
            <a:solidFill>
              <a:srgbClr val="9AA9B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165592" y="3749040"/>
            <a:ext cx="3447288" cy="1051560"/>
          </a:xfrm>
          <a:prstGeom prst="roundRect">
            <a:avLst>
              <a:gd name="adj" fmla="val 9565"/>
            </a:avLst>
          </a:prstGeom>
          <a:solidFill>
            <a:srgbClr val="0A0E1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02752" y="3895344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ledger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429768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· policy_hash per row · retrain L1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10476"/>
            </a:avLst>
          </a:prstGeom>
          <a:solidFill>
            <a:srgbClr val="F0F5FF"/>
          </a:solidFill>
          <a:ln w="12700">
            <a:solidFill>
              <a:srgbClr val="D5E3FB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22960" y="5394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never held.  </a:t>
            </a:r>
            <a:pPr indent="0" marL="0">
              <a:buNone/>
            </a:pPr>
            <a:r>
              <a:rPr lang="en-US" sz="1300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tokens stream at zero added latency; only side effects wait at the latch. On a checker timeout the policy fail-mode decides — irreversible actions fail closed, reversible ones fail open.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nobody else ships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7333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93976"/>
            <a:ext cx="566928" cy="566928"/>
          </a:xfrm>
          <a:prstGeom prst="ellipse">
            <a:avLst/>
          </a:prstGeom>
          <a:solidFill>
            <a:srgbClr val="2E6B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93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64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745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Reversibility-indexed verdicts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25856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decide on content risk, scoped by endpoint. We decide on the action class — so the same sentence annotates as a draft and blocks as a refund.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732520" y="1920240"/>
            <a:ext cx="0" cy="914400"/>
          </a:xfrm>
          <a:prstGeom prst="line">
            <a:avLst/>
          </a:prstGeom>
          <a:noFill/>
          <a:ln w="12700">
            <a:solidFill>
              <a:srgbClr val="E3E9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0" y="19659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text →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E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verdicts, live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1064240" cy="1371600"/>
          </a:xfrm>
          <a:prstGeom prst="roundRect">
            <a:avLst>
              <a:gd name="adj" fmla="val 7333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648456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648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64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4290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that pays for itself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81304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coverage at L0 with no model call; spend escalates only in the uncertainty band. Human labels retrain L1, so the paid tier shrinks over time.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732520" y="3474720"/>
            <a:ext cx="0" cy="914400"/>
          </a:xfrm>
          <a:prstGeom prst="line">
            <a:avLst/>
          </a:prstGeom>
          <a:noFill/>
          <a:ln w="12700">
            <a:solidFill>
              <a:srgbClr val="E3E9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0" y="35204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tier 9% → 1%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four weeks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11064240" cy="1371600"/>
          </a:xfrm>
          <a:prstGeom prst="roundRect">
            <a:avLst>
              <a:gd name="adj" fmla="val 7333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5202936"/>
            <a:ext cx="566928" cy="566928"/>
          </a:xfrm>
          <a:prstGeom prst="ellipse">
            <a:avLst/>
          </a:prstGeom>
          <a:solidFill>
            <a:srgbClr val="12B98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5202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64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49834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point is a signed artifact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536752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thresholds that govern everything are owned, dated and rationalised by a named risk owner — and SHA-256-hashed into every immutable ledger row.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32520" y="5029200"/>
            <a:ext cx="0" cy="914400"/>
          </a:xfrm>
          <a:prstGeom prst="line">
            <a:avLst/>
          </a:prstGeom>
          <a:noFill/>
          <a:ln w="12700">
            <a:solidFill>
              <a:srgbClr val="E3E9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61120" y="50749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one row,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2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breaks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compete on detection — we use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guardrail market is crowded and good. CLEARANCE treats every incumbent as a potential backend behind its adapter interface, and adds the layer none of them ship.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CLEARANCE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6903720" cy="749808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83464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Lakera · OpenAI Guardrails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8346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rails, injection, sub-50ms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8346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candidate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6903720" cy="749808"/>
          </a:xfrm>
          <a:prstGeom prst="roundRect">
            <a:avLst>
              <a:gd name="adj" fmla="val 13415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65760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Patronus · Galileo · Bedrock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6576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&amp; hallucination scoring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36576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candidate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6903720" cy="749808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4805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Guardrails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44805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dialogue / state control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448056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6903720" cy="749808"/>
          </a:xfrm>
          <a:prstGeom prst="roundRect">
            <a:avLst>
              <a:gd name="adj" fmla="val 13415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3035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Bifrost · Agent Command Center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53035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gateway, policy-as-config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53035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— still content-scoped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0" y="2377440"/>
            <a:ext cx="3840480" cy="3794760"/>
          </a:xfrm>
          <a:prstGeom prst="roundRect">
            <a:avLst>
              <a:gd name="adj" fmla="val 2651"/>
            </a:avLst>
          </a:prstGeom>
          <a:solidFill>
            <a:srgbClr val="0A0E1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4672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ADAPTER SEAM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29260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a commodity with excellent vendors. Our contribution is the decision layer, so every detector is swappable in one line of policy: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046720" y="4114800"/>
            <a:ext cx="3291840" cy="685800"/>
          </a:xfrm>
          <a:prstGeom prst="roundRect">
            <a:avLst>
              <a:gd name="adj" fmla="val 14667"/>
            </a:avLst>
          </a:prstGeom>
          <a:solidFill>
            <a:srgbClr val="00000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0" y="4187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groundedness: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backend: patronus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5029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line, and the tiers, gate, latch and ledger are untouched. “Why not just use Lakera?” — we happily do.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prototype, not a slideware promise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offline with zero API keys on a committed corpus. Clone it, run one command, and the whole system works.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606040" cy="1417320"/>
          </a:xfrm>
          <a:prstGeom prst="roundRect">
            <a:avLst>
              <a:gd name="adj" fmla="val 7097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39572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ms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272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p95 latency at L0, 100% coverage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9272" y="2240280"/>
            <a:ext cx="2606040" cy="1417320"/>
          </a:xfrm>
          <a:prstGeom prst="roundRect">
            <a:avLst>
              <a:gd name="adj" fmla="val 7097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47872" y="239572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31272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behaviour tests passing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9904" y="2240280"/>
            <a:ext cx="2606040" cy="1417320"/>
          </a:xfrm>
          <a:prstGeom prst="roundRect">
            <a:avLst>
              <a:gd name="adj" fmla="val 7097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18504" y="239572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→ 1%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318504" y="31272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paid-tier traffic over four weeks, recall held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60536" y="2240280"/>
            <a:ext cx="2606040" cy="1417320"/>
          </a:xfrm>
          <a:prstGeom prst="roundRect">
            <a:avLst>
              <a:gd name="adj" fmla="val 7097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089136" y="239572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089136" y="31272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&amp; reproducible — zero keys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6766560" cy="2331720"/>
          </a:xfrm>
          <a:prstGeom prst="roundRect">
            <a:avLst>
              <a:gd name="adj" fmla="val 4314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389120"/>
            <a:ext cx="6263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gateway + hash-chained ledger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detectors behind a swappable adapter interface + the confidence-evidence gap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engine, action gate &amp; latch — the live paired verdict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accumulator — blocks an agentic action on an earlier unsupported premise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console: operating point recomputes vs the corpus in &lt; 300 ms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43800" y="3886200"/>
            <a:ext cx="4069080" cy="2331720"/>
          </a:xfrm>
          <a:prstGeom prst="roundRect">
            <a:avLst>
              <a:gd name="adj" fmla="val 4314"/>
            </a:avLst>
          </a:prstGeom>
          <a:solidFill>
            <a:srgbClr val="0A0E1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18120" y="4069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AT THE DEFAULT OPERATING POINT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4709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assistant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29800" y="4736592"/>
            <a:ext cx="1463040" cy="201168"/>
          </a:xfrm>
          <a:prstGeom prst="roundRect">
            <a:avLst>
              <a:gd name="adj" fmla="val 45455"/>
            </a:avLst>
          </a:prstGeom>
          <a:solidFill>
            <a:srgbClr val="24324A"/>
          </a:solidFill>
          <a:ln/>
        </p:spPr>
      </p:sp>
      <p:sp>
        <p:nvSpPr>
          <p:cNvPr id="24" name="Shape 22"/>
          <p:cNvSpPr/>
          <p:nvPr/>
        </p:nvSpPr>
        <p:spPr>
          <a:xfrm>
            <a:off x="9829800" y="4736592"/>
            <a:ext cx="1463040" cy="201168"/>
          </a:xfrm>
          <a:prstGeom prst="roundRect">
            <a:avLst>
              <a:gd name="adj" fmla="val 45455"/>
            </a:avLst>
          </a:prstGeom>
          <a:solidFill>
            <a:srgbClr val="12B98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18120" y="5166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copilot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829800" y="5193792"/>
            <a:ext cx="1463040" cy="201168"/>
          </a:xfrm>
          <a:prstGeom prst="roundRect">
            <a:avLst>
              <a:gd name="adj" fmla="val 45455"/>
            </a:avLst>
          </a:prstGeom>
          <a:solidFill>
            <a:srgbClr val="24324A"/>
          </a:solidFill>
          <a:ln/>
        </p:spPr>
      </p:sp>
      <p:sp>
        <p:nvSpPr>
          <p:cNvPr id="27" name="Shape 25"/>
          <p:cNvSpPr/>
          <p:nvPr/>
        </p:nvSpPr>
        <p:spPr>
          <a:xfrm>
            <a:off x="9829800" y="5193792"/>
            <a:ext cx="1463040" cy="201168"/>
          </a:xfrm>
          <a:prstGeom prst="roundRect">
            <a:avLst>
              <a:gd name="adj" fmla="val 45455"/>
            </a:avLst>
          </a:prstGeom>
          <a:solidFill>
            <a:srgbClr val="12B98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818120" y="5623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829800" y="5650992"/>
            <a:ext cx="1463040" cy="201168"/>
          </a:xfrm>
          <a:prstGeom prst="roundRect">
            <a:avLst>
              <a:gd name="adj" fmla="val 45455"/>
            </a:avLst>
          </a:prstGeom>
          <a:solidFill>
            <a:srgbClr val="24324A"/>
          </a:solidFill>
          <a:ln/>
        </p:spPr>
      </p:sp>
      <p:sp>
        <p:nvSpPr>
          <p:cNvPr id="30" name="Shape 28"/>
          <p:cNvSpPr/>
          <p:nvPr/>
        </p:nvSpPr>
        <p:spPr>
          <a:xfrm>
            <a:off x="9829800" y="5650992"/>
            <a:ext cx="1463040" cy="201168"/>
          </a:xfrm>
          <a:prstGeom prst="roundRect">
            <a:avLst>
              <a:gd name="adj" fmla="val 45455"/>
            </a:avLst>
          </a:prstGeom>
          <a:solidFill>
            <a:srgbClr val="12B98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818120" y="5943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1.00 · recall ~0.90 · FP rate 0.00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818120" y="6172200"/>
            <a:ext cx="356616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Synthetic, single-annotator corpus — relative measures for comparing operating points, not absolute accuracy. Stated plainly in the repo.</a:t>
            </a:r>
            <a:endParaRPr lang="en-US" sz="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budget line: AI action governance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enterprises move LLMs from chat to agents that take real actions, spend shifts from “content moderation” to “action governance” — a control-plane budget that scales with every governed decision.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6766560" cy="841248"/>
          </a:xfrm>
          <a:prstGeom prst="roundRect">
            <a:avLst>
              <a:gd name="adj" fmla="val 11957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715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6791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$18B+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26974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trust, safety &amp; governance tooling by 2030 (illustrative, top-down)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6766560" cy="841248"/>
          </a:xfrm>
          <a:prstGeom prst="roundRect">
            <a:avLst>
              <a:gd name="adj" fmla="val 11957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3675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36393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$3–4B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36576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guardrails &amp; policy gateways for production LLM apps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6766560" cy="841248"/>
          </a:xfrm>
          <a:prstGeom prst="roundRect">
            <a:avLst>
              <a:gd name="adj" fmla="val 11957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4636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4599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$40–60M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46177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Bottoms-up 3-yr wedge (see assumptions →)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532120"/>
            <a:ext cx="6766560" cy="685800"/>
          </a:xfrm>
          <a:prstGeom prst="roundRect">
            <a:avLst>
              <a:gd name="adj" fmla="val 14667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60527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Bottoms-up: ~6,000 enterprises running agentic LLMs in production × ~30% needing action-level governance × ~$30K ACV ≈ $54M reachable. Figures are our estimates with stated assumptions, not third-party market data.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43800" y="2606040"/>
            <a:ext cx="4069080" cy="3611880"/>
          </a:xfrm>
          <a:prstGeom prst="roundRect">
            <a:avLst>
              <a:gd name="adj" fmla="val 2785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77240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WEDGE COMPOUNDS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7680960" y="3063240"/>
          <a:ext cx="379476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on governed decisions, aligned with value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02152" cy="3383280"/>
          </a:xfrm>
          <a:prstGeom prst="roundRect">
            <a:avLst>
              <a:gd name="adj" fmla="val 2973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8483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2E6B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848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420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1,000 governed decisions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on decisions, not seats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Cost-proportional: cheap L0 on all traffic, spend only on the uncertain slice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tier shrinks as L1 learns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33672" y="1828800"/>
            <a:ext cx="3502152" cy="3383280"/>
          </a:xfrm>
          <a:prstGeom prst="roundRect">
            <a:avLst>
              <a:gd name="adj" fmla="val 2973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208483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8B5C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07992" y="20848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25420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per environment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310896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console + signed operating points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ledger &amp; exports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integrations (Lakera / Patronus / Bedrock)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18704" y="1828800"/>
            <a:ext cx="3502152" cy="3383280"/>
          </a:xfrm>
          <a:prstGeom prst="roundRect">
            <a:avLst>
              <a:gd name="adj" fmla="val 2973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93024" y="208483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2B98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93024" y="20848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193024" y="25420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193024" y="310896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 packs &amp; data residency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Human-review workflows &amp; SSO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SLAs, on-prem / VPC deployment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12941"/>
            </a:avLst>
          </a:prstGeom>
          <a:solidFill>
            <a:srgbClr val="F0F5FF"/>
          </a:solidFill>
          <a:ln w="12700">
            <a:solidFill>
              <a:srgbClr val="D5E3FB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55321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&amp; expand.  </a:t>
            </a:r>
            <a:pPr indent="0" marL="0">
              <a:buNone/>
            </a:pPr>
            <a:r>
              <a:rPr lang="en-US" sz="1250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as the governance layer on one high-blast-radius workflow (refunds, outbound email), prove the audit trail, then expand across every agent that can take an action. Net revenue retention rises as customers add governed surfaces.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where an action is irreversible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2152" cy="2286000"/>
          </a:xfrm>
          <a:prstGeom prst="roundRect">
            <a:avLst>
              <a:gd name="adj" fmla="val 4400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30552"/>
            <a:ext cx="548640" cy="548640"/>
          </a:xfrm>
          <a:prstGeom prst="ellipse">
            <a:avLst/>
          </a:prstGeom>
          <a:solidFill>
            <a:srgbClr val="2E6B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support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88036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Refunds, credits, chargebacks — irreversible money movement with heavy audit and dispute exposure.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33672" y="1874520"/>
            <a:ext cx="3502152" cy="2286000"/>
          </a:xfrm>
          <a:prstGeom prst="roundRect">
            <a:avLst>
              <a:gd name="adj" fmla="val 4400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130552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5239512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decision-support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88036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that must not out-run its evidence; the lowest-appetite operating point and human escalation.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18704" y="1874520"/>
            <a:ext cx="3502152" cy="2286000"/>
          </a:xfrm>
          <a:prstGeom prst="roundRect">
            <a:avLst>
              <a:gd name="adj" fmla="val 4400"/>
            </a:avLst>
          </a:prstGeom>
          <a:solidFill>
            <a:srgbClr val="F5F8F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25400" dir="5400000">
              <a:srgbClr val="AEBBCC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11312" y="2130552"/>
            <a:ext cx="548640" cy="548640"/>
          </a:xfrm>
          <a:prstGeom prst="ellipse">
            <a:avLst/>
          </a:prstGeom>
          <a:solidFill>
            <a:srgbClr val="12B98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11312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8924544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copilots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11312" y="288036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email, record writes and HR data where a fabricated named-person detail is the signature failure.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11064240" cy="1783080"/>
          </a:xfrm>
          <a:prstGeom prst="roundRect">
            <a:avLst>
              <a:gd name="adj" fmla="val 5641"/>
            </a:avLst>
          </a:prstGeom>
          <a:solidFill>
            <a:srgbClr val="0A0E1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5029200"/>
            <a:ext cx="457200" cy="457200"/>
          </a:xfrm>
          <a:prstGeom prst="ellipse">
            <a:avLst/>
          </a:prstGeom>
          <a:solidFill>
            <a:srgbClr val="2E6BF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53492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partners on one high-stakes workflow each; free pilot, we instrument the win.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80560" y="5029200"/>
            <a:ext cx="457200" cy="457200"/>
          </a:xfrm>
          <a:prstGeom prst="ellipse">
            <a:avLst/>
          </a:prstGeom>
          <a:solidFill>
            <a:srgbClr val="2E6BF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8056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audit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53492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operating point + immutable ledger becomes the artifact their risk team wants.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5029200"/>
            <a:ext cx="457200" cy="457200"/>
          </a:xfrm>
          <a:prstGeom prst="ellipse">
            <a:avLst/>
          </a:prstGeom>
          <a:solidFill>
            <a:srgbClr val="2E6BF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3816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732520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by surface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53492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agent action is a new governed surface — usage and NRR compound.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E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control plane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70048" cy="4023360"/>
          </a:xfrm>
          <a:prstGeom prst="roundRect">
            <a:avLst>
              <a:gd name="adj" fmla="val 3767"/>
            </a:avLst>
          </a:prstGeom>
          <a:solidFill>
            <a:srgbClr val="18222F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1234440" cy="365760"/>
          </a:xfrm>
          <a:prstGeom prst="roundRect">
            <a:avLst>
              <a:gd name="adj" fmla="val 25000"/>
            </a:avLst>
          </a:prstGeom>
          <a:solidFill>
            <a:srgbClr val="2E6B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22128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verdict, agentic block, tuning, ledger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offline, zero keys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behaviour tests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46704" y="1920240"/>
            <a:ext cx="2670048" cy="4023360"/>
          </a:xfrm>
          <a:prstGeom prst="roundRect">
            <a:avLst>
              <a:gd name="adj" fmla="val 3767"/>
            </a:avLst>
          </a:prstGeom>
          <a:solidFill>
            <a:srgbClr val="18222F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75304" y="2148840"/>
            <a:ext cx="1234440" cy="36576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75304" y="21488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75304" y="26974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design partners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575304" y="3383280"/>
            <a:ext cx="22128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adapters live (Lakera / Patronus)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Human-review workflow + exports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governed production workflow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44768" y="1920240"/>
            <a:ext cx="2670048" cy="4023360"/>
          </a:xfrm>
          <a:prstGeom prst="roundRect">
            <a:avLst>
              <a:gd name="adj" fmla="val 3767"/>
            </a:avLst>
          </a:prstGeom>
          <a:solidFill>
            <a:srgbClr val="18222F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73368" y="2148840"/>
            <a:ext cx="1234440" cy="365760"/>
          </a:xfrm>
          <a:prstGeom prst="roundRect">
            <a:avLst>
              <a:gd name="adj" fmla="val 25000"/>
            </a:avLst>
          </a:prstGeom>
          <a:solidFill>
            <a:srgbClr val="5EB0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73368" y="21488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73368" y="26974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373368" y="3383280"/>
            <a:ext cx="22128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 packs &amp; residency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L1, self-improving loop at scale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SOC2 path, VPC deploy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42832" y="1920240"/>
            <a:ext cx="2670048" cy="4023360"/>
          </a:xfrm>
          <a:prstGeom prst="roundRect">
            <a:avLst>
              <a:gd name="adj" fmla="val 3767"/>
            </a:avLst>
          </a:prstGeom>
          <a:solidFill>
            <a:srgbClr val="18222F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71432" y="2148840"/>
            <a:ext cx="1234440" cy="365760"/>
          </a:xfrm>
          <a:prstGeom prst="roundRect">
            <a:avLst>
              <a:gd name="adj" fmla="val 25000"/>
            </a:avLst>
          </a:prstGeom>
          <a:solidFill>
            <a:srgbClr val="12B98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71432" y="21488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MO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71432" y="26974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9171432" y="3383280"/>
            <a:ext cx="22128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Multi-agent, cross-workflow risk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of policy packs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leadership on action governance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194560"/>
            <a:ext cx="6858000" cy="685800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3474720"/>
            <a:ext cx="5943600" cy="5943600"/>
          </a:xfrm>
          <a:prstGeom prst="ellipse">
            <a:avLst/>
          </a:prstGeom>
          <a:solidFill>
            <a:srgbClr val="2E6BF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2E6B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40080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8B5CF6">
              <a:alpha val="5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9341" y="760781"/>
            <a:ext cx="362102" cy="362102"/>
          </a:xfrm>
          <a:prstGeom prst="ellipse">
            <a:avLst/>
          </a:prstGeom>
          <a:ln w="50292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2812" y="893552"/>
            <a:ext cx="120701" cy="9656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25880" y="69494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87452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the action,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answer.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3502152" cy="1554480"/>
          </a:xfrm>
          <a:prstGeom prst="roundRect">
            <a:avLst>
              <a:gd name="adj" fmla="val 6471"/>
            </a:avLst>
          </a:prstGeom>
          <a:solidFill>
            <a:srgbClr val="18222F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437083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high-stakes, action-taking workflow to govern — we run the pilot.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33672" y="3794760"/>
            <a:ext cx="3502152" cy="1554480"/>
          </a:xfrm>
          <a:prstGeom prst="roundRect">
            <a:avLst>
              <a:gd name="adj" fmla="val 6471"/>
            </a:avLst>
          </a:prstGeom>
          <a:solidFill>
            <a:srgbClr val="18222F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9704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audit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489704" y="437083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signed operating point + immutable ledger with your risk team.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18704" y="3794760"/>
            <a:ext cx="3502152" cy="1554480"/>
          </a:xfrm>
          <a:prstGeom prst="roundRect">
            <a:avLst>
              <a:gd name="adj" fmla="val 6471"/>
            </a:avLst>
          </a:prstGeom>
          <a:solidFill>
            <a:srgbClr val="18222F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74736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174736" y="437083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the action-governance layer as your agents move to production.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42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Prototype, docs &amp; demo:  github.com/Aparna-Jha-05/clearance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081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Aparna Jha</a:t>
            </a:r>
            <a:pPr indent="0" marL="0">
              <a:buNone/>
            </a:pPr>
            <a:r>
              <a:rPr lang="en-US" sz="11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Accenture Innovation Challenge 2026 · Round 2 · Track 1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CLEARANCE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CLEARANCE</dc:creator>
  <cp:lastModifiedBy>CLEARANCE</cp:lastModifiedBy>
  <cp:revision>1</cp:revision>
  <dcterms:created xsi:type="dcterms:W3CDTF">2026-08-30T15:45:50Z</dcterms:created>
  <dcterms:modified xsi:type="dcterms:W3CDTF">2026-08-30T15:45:50Z</dcterms:modified>
</cp:coreProperties>
</file>